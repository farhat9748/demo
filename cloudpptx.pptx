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6" r:id="rId4"/>
    <p:sldId id="259" r:id="rId5"/>
    <p:sldId id="260" r:id="rId6"/>
    <p:sldId id="258" r:id="rId7"/>
    <p:sldId id="267" r:id="rId8"/>
    <p:sldId id="269" r:id="rId9"/>
    <p:sldId id="27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6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59DC-212F-D7B1-B317-AD8CBE42B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6CBD6-464F-D5B2-B3F4-6315C0C75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A023B-1F80-E504-D31A-2BE2A97C2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2D89C-059B-93FB-D837-8400686B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777AA-7B8A-055B-0779-3032D764D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267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D6505-DB16-176B-4AC7-7FDF6CBA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6BCCF-EC0E-EA18-B202-B098AE9F7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14DE2-B735-949A-F346-2C0AF830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C5E67-03E8-640C-5051-B55B95ABF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B3E70-FD25-D142-4FB6-361FEFCBC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14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5EF4-F7AE-B5AE-265B-01A1E916A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9E624-58AE-CD3B-9E0A-1DC2543FA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A3308-D4E3-B2D0-41E5-CB3C8398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04AEF-49B1-F451-A325-60C07870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0A4AF-84C7-A496-252D-2D2310DEE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008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9325C-2173-10DE-0B12-BD0DA1FC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8FE9E-6E90-DFD4-BB4E-AB49CE684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B8BB1-7654-801A-6BE6-24E4BD638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91F09-4F60-D9F1-F024-206BFBF42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D1D11-6075-5563-CDF7-87ABF1DF8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CC74A-F1EA-72CF-CF33-22D3FEC5B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51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D988-5FE5-4D0E-0EB6-20F177EF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D0A88-768B-8E29-840F-5964617BC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1B253-AFA3-02B2-FCBF-5EB339F47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F0118-1266-65BC-7C03-92F91E75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D600A-E601-D2C6-3F94-23E77547F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73B39-9F4E-0FC8-6359-44DAB4C8F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5E2A2-AD5D-4500-4CF0-559777B8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6594B-0CC6-C782-12EE-87E8BFD3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19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41E2-EF1B-8610-01B4-FBF5F899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BEB67-2152-CA14-42CB-17664AF8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94EA4-9C63-4196-2670-C2B79194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A8B01-AF15-D2B0-192A-47DD5BC2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71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4CE3-26CC-A5FD-80C0-6F048A30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8307D-B94B-9BE0-62B5-AAD5CF07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DCB30-182A-810E-211F-923F7A53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36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1726-E705-7FE9-09F2-A9BE95DB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B0726-9F53-26F2-9B8D-E0605CE3B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AF940-9562-6C97-A6F2-2121A5016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1589D-B027-36A6-957C-3E2A2D13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1D1D6-C830-AE01-A297-F760D03A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77E0E-F1CD-3A14-6C74-40865610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25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45DC-07EF-00B0-B591-25821D92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88729-AEAF-5E34-2D4D-BEA6DE1658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032BD-769C-55E8-57AB-5C5C7402B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DAF1C-629C-78B0-7031-543A57D7E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CE1E5-A587-A797-1FD0-25B0F4059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E74DF-902B-6D16-2B2D-DCA1316A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702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D602F-0855-6986-7518-76FFB6059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8E9CE-0D76-4D26-1C44-27DD8E98D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6479B-2A5E-4565-6B7A-9865FDF8A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8BFAB-0E94-A9EE-4641-648B3B48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DDB17-02F8-FDAC-DCD8-1A33F810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163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BFB6A-A3A3-48FD-3EED-F91AED40B5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38433-0DDA-31E6-8BF2-508C0D5E5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7DEC8-094A-67E5-7EAD-70191630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C51B6-D9CE-8632-375C-0C2D5382F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98A1D-74ED-C490-F429-17F6226C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18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FA46FE-5D87-BA33-86E1-006326741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84666-2725-BDDD-DB6F-32C62A6D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5BBCF-A2D9-1F49-2ED5-CFE024ED1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F6D83-AE8D-4475-8CB3-334B058EADE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962F5-9AB4-F07C-0165-4DF29CBFF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73A95-4F87-71F6-3792-0042A3981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0CDC1-11FA-4369-BF2C-0B3425674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69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E4BC2A-4604-275C-98D5-7A975057DAC3}"/>
              </a:ext>
            </a:extLst>
          </p:cNvPr>
          <p:cNvSpPr/>
          <p:nvPr/>
        </p:nvSpPr>
        <p:spPr>
          <a:xfrm>
            <a:off x="0" y="196645"/>
            <a:ext cx="12192000" cy="53094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DF6E2-BAA1-241E-3AD0-AEE13AE2C777}"/>
              </a:ext>
            </a:extLst>
          </p:cNvPr>
          <p:cNvSpPr/>
          <p:nvPr/>
        </p:nvSpPr>
        <p:spPr>
          <a:xfrm>
            <a:off x="0" y="6184490"/>
            <a:ext cx="12192000" cy="4768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D57222-0979-9C1F-5C29-884F238678C5}"/>
              </a:ext>
            </a:extLst>
          </p:cNvPr>
          <p:cNvSpPr/>
          <p:nvPr/>
        </p:nvSpPr>
        <p:spPr>
          <a:xfrm>
            <a:off x="0" y="5673213"/>
            <a:ext cx="12192000" cy="35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DCD3B-3F7F-6CD9-6F1A-377DC44F5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7B0FE5-EBA7-AC6E-84A9-F439BBF6C919}"/>
              </a:ext>
            </a:extLst>
          </p:cNvPr>
          <p:cNvSpPr/>
          <p:nvPr/>
        </p:nvSpPr>
        <p:spPr>
          <a:xfrm>
            <a:off x="-94247" y="833378"/>
            <a:ext cx="1047549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400" b="1" dirty="0"/>
              <a:t>Quantum Computing vs Classical Computing</a:t>
            </a:r>
            <a:endParaRPr lang="en-IN" sz="4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37BA64-7559-B5C1-C4E4-F693738D0E33}"/>
              </a:ext>
            </a:extLst>
          </p:cNvPr>
          <p:cNvSpPr txBox="1"/>
          <p:nvPr/>
        </p:nvSpPr>
        <p:spPr>
          <a:xfrm>
            <a:off x="7033846" y="4598461"/>
            <a:ext cx="5006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Presented By :Farhat Jabeen</a:t>
            </a:r>
            <a:endParaRPr lang="en-IN" sz="3200" dirty="0"/>
          </a:p>
        </p:txBody>
      </p:sp>
      <p:pic>
        <p:nvPicPr>
          <p:cNvPr id="3074" name="Picture 2" descr="234,400+ Iot Stock Photos, Pictures &amp; Royalty-Free Images ...">
            <a:extLst>
              <a:ext uri="{FF2B5EF4-FFF2-40B4-BE49-F238E27FC236}">
                <a16:creationId xmlns:a16="http://schemas.microsoft.com/office/drawing/2014/main" id="{F8FD5DA0-48F9-D306-EBF4-645C40A9E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230" y="1913038"/>
            <a:ext cx="3993173" cy="266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5326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E4BC2A-4604-275C-98D5-7A975057DAC3}"/>
              </a:ext>
            </a:extLst>
          </p:cNvPr>
          <p:cNvSpPr/>
          <p:nvPr/>
        </p:nvSpPr>
        <p:spPr>
          <a:xfrm>
            <a:off x="0" y="196645"/>
            <a:ext cx="12192000" cy="53094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DF6E2-BAA1-241E-3AD0-AEE13AE2C777}"/>
              </a:ext>
            </a:extLst>
          </p:cNvPr>
          <p:cNvSpPr/>
          <p:nvPr/>
        </p:nvSpPr>
        <p:spPr>
          <a:xfrm>
            <a:off x="0" y="6184490"/>
            <a:ext cx="12192000" cy="4768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D57222-0979-9C1F-5C29-884F238678C5}"/>
              </a:ext>
            </a:extLst>
          </p:cNvPr>
          <p:cNvSpPr/>
          <p:nvPr/>
        </p:nvSpPr>
        <p:spPr>
          <a:xfrm>
            <a:off x="0" y="5673213"/>
            <a:ext cx="12192000" cy="35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DCD3B-3F7F-6CD9-6F1A-377DC44F5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7B0FE5-EBA7-AC6E-84A9-F439BBF6C919}"/>
              </a:ext>
            </a:extLst>
          </p:cNvPr>
          <p:cNvSpPr/>
          <p:nvPr/>
        </p:nvSpPr>
        <p:spPr>
          <a:xfrm>
            <a:off x="1647635" y="110750"/>
            <a:ext cx="863936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400" b="1" dirty="0"/>
              <a:t>Table Of Contents:</a:t>
            </a:r>
            <a:endParaRPr lang="en-IN" sz="4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0D588-0D4C-3B57-B72D-FED00824A57A}"/>
              </a:ext>
            </a:extLst>
          </p:cNvPr>
          <p:cNvSpPr txBox="1"/>
          <p:nvPr/>
        </p:nvSpPr>
        <p:spPr>
          <a:xfrm>
            <a:off x="5648178" y="296828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625624-D915-CA40-6B16-DB69E04D5B2C}"/>
              </a:ext>
            </a:extLst>
          </p:cNvPr>
          <p:cNvSpPr txBox="1"/>
          <p:nvPr/>
        </p:nvSpPr>
        <p:spPr>
          <a:xfrm>
            <a:off x="791579" y="1640444"/>
            <a:ext cx="7888187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Classical Computing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Quantum Computing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Advantages of Quantum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Challenges of Quantum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/>
              <a:t>Aplication</a:t>
            </a:r>
            <a:r>
              <a:rPr lang="en-US" sz="2800" b="1" dirty="0"/>
              <a:t> of Quantum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Conclusion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1616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537A7-F0E4-C213-3A7B-6E52189C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63F420-2CC2-2D98-AC5D-749C50CA1646}"/>
              </a:ext>
            </a:extLst>
          </p:cNvPr>
          <p:cNvSpPr/>
          <p:nvPr/>
        </p:nvSpPr>
        <p:spPr>
          <a:xfrm>
            <a:off x="0" y="196645"/>
            <a:ext cx="12192000" cy="53094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1EE978-1F6E-6C7D-F8D6-FC1745D344F9}"/>
              </a:ext>
            </a:extLst>
          </p:cNvPr>
          <p:cNvSpPr/>
          <p:nvPr/>
        </p:nvSpPr>
        <p:spPr>
          <a:xfrm>
            <a:off x="0" y="6184490"/>
            <a:ext cx="12192000" cy="4768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2D7515-E4C9-A487-7912-EDAC43A1BD9D}"/>
              </a:ext>
            </a:extLst>
          </p:cNvPr>
          <p:cNvSpPr/>
          <p:nvPr/>
        </p:nvSpPr>
        <p:spPr>
          <a:xfrm>
            <a:off x="0" y="5673213"/>
            <a:ext cx="12192000" cy="35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8F5592-3249-333A-7462-B2D0AC18C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4226F19-E513-CA4A-0CDF-8698AC2E651F}"/>
              </a:ext>
            </a:extLst>
          </p:cNvPr>
          <p:cNvSpPr/>
          <p:nvPr/>
        </p:nvSpPr>
        <p:spPr>
          <a:xfrm>
            <a:off x="1647635" y="77395"/>
            <a:ext cx="863936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400" b="1" dirty="0"/>
              <a:t>Introduction</a:t>
            </a:r>
            <a:endParaRPr lang="en-IN" sz="4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83DD45-9B2D-C78E-4ED5-4CB3EB012165}"/>
              </a:ext>
            </a:extLst>
          </p:cNvPr>
          <p:cNvSpPr txBox="1"/>
          <p:nvPr/>
        </p:nvSpPr>
        <p:spPr>
          <a:xfrm>
            <a:off x="791306" y="1136064"/>
            <a:ext cx="7663105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Computing?</a:t>
            </a:r>
          </a:p>
          <a:p>
            <a:r>
              <a:rPr lang="en-US" sz="2400" dirty="0"/>
              <a:t>Computing is the process of solving problems using data and algorithms.</a:t>
            </a:r>
          </a:p>
          <a:p>
            <a:r>
              <a:rPr lang="en-US" sz="2400" b="1" dirty="0"/>
              <a:t>Two Main Types: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Classical Computing</a:t>
            </a:r>
            <a:r>
              <a:rPr lang="en-US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Used in today's computers, smartphones, and servers.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Quantum Computing</a:t>
            </a:r>
            <a:r>
              <a:rPr lang="en-US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Uses principles of quantum mechanics to process information. </a:t>
            </a:r>
          </a:p>
          <a:p>
            <a:r>
              <a:rPr lang="en-US" sz="2400" b="1" dirty="0"/>
              <a:t>Key Question:</a:t>
            </a:r>
            <a:r>
              <a:rPr lang="en-US" sz="2400" dirty="0"/>
              <a:t> How does quantum computing differ from classical computing?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095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E4BC2A-4604-275C-98D5-7A975057DAC3}"/>
              </a:ext>
            </a:extLst>
          </p:cNvPr>
          <p:cNvSpPr/>
          <p:nvPr/>
        </p:nvSpPr>
        <p:spPr>
          <a:xfrm>
            <a:off x="0" y="204077"/>
            <a:ext cx="12192000" cy="53094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DF6E2-BAA1-241E-3AD0-AEE13AE2C777}"/>
              </a:ext>
            </a:extLst>
          </p:cNvPr>
          <p:cNvSpPr/>
          <p:nvPr/>
        </p:nvSpPr>
        <p:spPr>
          <a:xfrm>
            <a:off x="0" y="6184490"/>
            <a:ext cx="12192000" cy="4768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D57222-0979-9C1F-5C29-884F238678C5}"/>
              </a:ext>
            </a:extLst>
          </p:cNvPr>
          <p:cNvSpPr/>
          <p:nvPr/>
        </p:nvSpPr>
        <p:spPr>
          <a:xfrm>
            <a:off x="0" y="5673213"/>
            <a:ext cx="12192000" cy="35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DCD3B-3F7F-6CD9-6F1A-377DC44F5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7B0FE5-EBA7-AC6E-84A9-F439BBF6C919}"/>
              </a:ext>
            </a:extLst>
          </p:cNvPr>
          <p:cNvSpPr/>
          <p:nvPr/>
        </p:nvSpPr>
        <p:spPr>
          <a:xfrm>
            <a:off x="925097" y="84827"/>
            <a:ext cx="972282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400" b="1" dirty="0"/>
              <a:t>Classical Computing</a:t>
            </a:r>
            <a:endParaRPr lang="en-US" sz="4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446BB-9842-43C6-1BDD-66768155A4EC}"/>
              </a:ext>
            </a:extLst>
          </p:cNvPr>
          <p:cNvSpPr txBox="1"/>
          <p:nvPr/>
        </p:nvSpPr>
        <p:spPr>
          <a:xfrm>
            <a:off x="689315" y="1078735"/>
            <a:ext cx="818739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How Classical Computers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Information is stored as </a:t>
            </a:r>
            <a:r>
              <a:rPr lang="en-US" sz="2000" b="1" dirty="0"/>
              <a:t>bits</a:t>
            </a:r>
            <a:r>
              <a:rPr lang="en-US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bit can be: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0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1 </a:t>
            </a:r>
          </a:p>
          <a:p>
            <a:r>
              <a:rPr lang="en-US" sz="2000" b="1" dirty="0"/>
              <a:t>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Sequential processing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Reliable and mature technology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Excellent for everyday applications </a:t>
            </a:r>
          </a:p>
          <a:p>
            <a:r>
              <a:rPr lang="en-US" sz="2000" b="1" dirty="0"/>
              <a:t>Examples: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Laptops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Smartphones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 centers </a:t>
            </a:r>
          </a:p>
          <a:p>
            <a:r>
              <a:rPr lang="en-US" sz="2000" b="1" dirty="0"/>
              <a:t>Visual:</a:t>
            </a:r>
            <a:r>
              <a:rPr lang="en-US" sz="2000" dirty="0"/>
              <a:t> Binary representation (0s and 1s).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71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E4BC2A-4604-275C-98D5-7A975057DAC3}"/>
              </a:ext>
            </a:extLst>
          </p:cNvPr>
          <p:cNvSpPr/>
          <p:nvPr/>
        </p:nvSpPr>
        <p:spPr>
          <a:xfrm>
            <a:off x="0" y="196645"/>
            <a:ext cx="12192000" cy="53094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DF6E2-BAA1-241E-3AD0-AEE13AE2C777}"/>
              </a:ext>
            </a:extLst>
          </p:cNvPr>
          <p:cNvSpPr/>
          <p:nvPr/>
        </p:nvSpPr>
        <p:spPr>
          <a:xfrm>
            <a:off x="0" y="6184490"/>
            <a:ext cx="12192000" cy="4768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D57222-0979-9C1F-5C29-884F238678C5}"/>
              </a:ext>
            </a:extLst>
          </p:cNvPr>
          <p:cNvSpPr/>
          <p:nvPr/>
        </p:nvSpPr>
        <p:spPr>
          <a:xfrm>
            <a:off x="0" y="5673213"/>
            <a:ext cx="12192000" cy="35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DCD3B-3F7F-6CD9-6F1A-377DC44F5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37BA64-7559-B5C1-C4E4-F693738D0E33}"/>
              </a:ext>
            </a:extLst>
          </p:cNvPr>
          <p:cNvSpPr txBox="1"/>
          <p:nvPr/>
        </p:nvSpPr>
        <p:spPr>
          <a:xfrm>
            <a:off x="667007" y="1138318"/>
            <a:ext cx="10572493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Quantum Computers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Information is stored as </a:t>
            </a:r>
            <a:r>
              <a:rPr lang="en-US" sz="2400" b="1" dirty="0"/>
              <a:t>qubits</a:t>
            </a:r>
            <a:r>
              <a:rPr lang="en-US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 qubit can exist 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0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1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Both simultaneously (Superposition) </a:t>
            </a:r>
          </a:p>
          <a:p>
            <a:r>
              <a:rPr lang="en-US" sz="2400" b="1" dirty="0"/>
              <a:t>Quantum Principles: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Superposition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Entanglement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Quantum Interference </a:t>
            </a:r>
          </a:p>
          <a:p>
            <a:r>
              <a:rPr lang="en-US" sz="2400" b="1" dirty="0"/>
              <a:t>Advantage:</a:t>
            </a:r>
            <a:r>
              <a:rPr lang="en-US" sz="2400" dirty="0"/>
              <a:t> Can explore multiple possibilities simultaneously.</a:t>
            </a:r>
          </a:p>
          <a:p>
            <a:endParaRPr lang="en-US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E01040-6FCA-4469-4E0B-30EA0FA32DDE}"/>
              </a:ext>
            </a:extLst>
          </p:cNvPr>
          <p:cNvSpPr/>
          <p:nvPr/>
        </p:nvSpPr>
        <p:spPr>
          <a:xfrm>
            <a:off x="900332" y="77395"/>
            <a:ext cx="972282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400" b="1" dirty="0"/>
              <a:t>Quantum Computing</a:t>
            </a:r>
            <a:endParaRPr lang="en-US" sz="4400" b="1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2BCD9963-EBDD-A2CA-4A15-090A747F7F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924465"/>
                  </p:ext>
                </p:extLst>
              </p:nvPr>
            </p:nvGraphicFramePr>
            <p:xfrm>
              <a:off x="-3183349" y="2909029"/>
              <a:ext cx="3048000" cy="1714500"/>
            </p:xfrm>
            <a:graphic>
              <a:graphicData uri="http://schemas.microsoft.com/office/powerpoint/2016/slidezoom">
                <pslz:sldZm>
                  <pslz:sldZmObj sldId="260" cId="554465886">
                    <pslz:zmPr id="{5FC3ED30-4CED-4E7F-8F3E-6CC4D91E2E25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2BCD9963-EBDD-A2CA-4A15-090A747F7F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183349" y="290902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4465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E4BC2A-4604-275C-98D5-7A975057DAC3}"/>
              </a:ext>
            </a:extLst>
          </p:cNvPr>
          <p:cNvSpPr/>
          <p:nvPr/>
        </p:nvSpPr>
        <p:spPr>
          <a:xfrm>
            <a:off x="0" y="196645"/>
            <a:ext cx="12192000" cy="53094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DF6E2-BAA1-241E-3AD0-AEE13AE2C777}"/>
              </a:ext>
            </a:extLst>
          </p:cNvPr>
          <p:cNvSpPr/>
          <p:nvPr/>
        </p:nvSpPr>
        <p:spPr>
          <a:xfrm>
            <a:off x="0" y="6184490"/>
            <a:ext cx="12192000" cy="4768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D57222-0979-9C1F-5C29-884F238678C5}"/>
              </a:ext>
            </a:extLst>
          </p:cNvPr>
          <p:cNvSpPr/>
          <p:nvPr/>
        </p:nvSpPr>
        <p:spPr>
          <a:xfrm>
            <a:off x="0" y="5673213"/>
            <a:ext cx="12192000" cy="35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DCD3B-3F7F-6CD9-6F1A-377DC44F5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7B0FE5-EBA7-AC6E-84A9-F439BBF6C919}"/>
              </a:ext>
            </a:extLst>
          </p:cNvPr>
          <p:cNvSpPr/>
          <p:nvPr/>
        </p:nvSpPr>
        <p:spPr>
          <a:xfrm>
            <a:off x="1591694" y="74230"/>
            <a:ext cx="86953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400" b="1" dirty="0"/>
              <a:t>Advantages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37BA64-7559-B5C1-C4E4-F693738D0E33}"/>
              </a:ext>
            </a:extLst>
          </p:cNvPr>
          <p:cNvSpPr txBox="1"/>
          <p:nvPr/>
        </p:nvSpPr>
        <p:spPr>
          <a:xfrm>
            <a:off x="112542" y="1675569"/>
            <a:ext cx="837027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Quantum Computing: Pros &amp; Cons</a:t>
            </a:r>
          </a:p>
          <a:p>
            <a:r>
              <a:rPr lang="en-IN" sz="2400" b="1" dirty="0"/>
              <a:t>Advantages</a:t>
            </a:r>
          </a:p>
          <a:p>
            <a:r>
              <a:rPr lang="en-IN" sz="2400" dirty="0"/>
              <a:t>✅ Massive computational power for specific problems</a:t>
            </a:r>
          </a:p>
          <a:p>
            <a:r>
              <a:rPr lang="en-IN" sz="2400" dirty="0"/>
              <a:t>✅ Faster optimization and simulation</a:t>
            </a:r>
          </a:p>
          <a:p>
            <a:r>
              <a:rPr lang="en-IN" sz="2400" dirty="0"/>
              <a:t>✅ Potential breakthroughs in science</a:t>
            </a:r>
          </a:p>
          <a:p>
            <a:endParaRPr lang="en-IN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36542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BFC7-CA11-314F-7A11-72384CAD1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2EB369-D0A2-3F40-37DF-7750ABA0FC0F}"/>
              </a:ext>
            </a:extLst>
          </p:cNvPr>
          <p:cNvSpPr/>
          <p:nvPr/>
        </p:nvSpPr>
        <p:spPr>
          <a:xfrm>
            <a:off x="0" y="196645"/>
            <a:ext cx="12192000" cy="53094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4DA2B6-66C0-7DBA-6625-6D826C5D8AA6}"/>
              </a:ext>
            </a:extLst>
          </p:cNvPr>
          <p:cNvSpPr/>
          <p:nvPr/>
        </p:nvSpPr>
        <p:spPr>
          <a:xfrm>
            <a:off x="0" y="6184490"/>
            <a:ext cx="12192000" cy="4768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74A4BB-6103-1E64-2D31-CB48CBBC8610}"/>
              </a:ext>
            </a:extLst>
          </p:cNvPr>
          <p:cNvSpPr/>
          <p:nvPr/>
        </p:nvSpPr>
        <p:spPr>
          <a:xfrm>
            <a:off x="0" y="5673213"/>
            <a:ext cx="12192000" cy="35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7209EC-A1DE-603D-4514-0B7E99CB5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A3AD8B7-1706-B13C-9B85-81044C2C91F6}"/>
              </a:ext>
            </a:extLst>
          </p:cNvPr>
          <p:cNvSpPr/>
          <p:nvPr/>
        </p:nvSpPr>
        <p:spPr>
          <a:xfrm>
            <a:off x="1591694" y="-17136"/>
            <a:ext cx="8695306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800" b="1" dirty="0"/>
              <a:t>Challenges of Quantum</a:t>
            </a:r>
            <a:endParaRPr lang="en-US" sz="4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A94D1-A653-5E25-920D-BD68CDD72A53}"/>
              </a:ext>
            </a:extLst>
          </p:cNvPr>
          <p:cNvSpPr txBox="1"/>
          <p:nvPr/>
        </p:nvSpPr>
        <p:spPr>
          <a:xfrm>
            <a:off x="984739" y="1543153"/>
            <a:ext cx="84968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Challenges</a:t>
            </a:r>
          </a:p>
          <a:p>
            <a:r>
              <a:rPr lang="en-IN" sz="2800" dirty="0"/>
              <a:t>❌ Expensive hardware</a:t>
            </a:r>
          </a:p>
          <a:p>
            <a:r>
              <a:rPr lang="en-IN" sz="2800" dirty="0"/>
              <a:t>❌ Qubit instability (decoherence)</a:t>
            </a:r>
          </a:p>
          <a:p>
            <a:r>
              <a:rPr lang="en-IN" sz="2800" dirty="0"/>
              <a:t>❌ Error correction difficulties</a:t>
            </a:r>
          </a:p>
          <a:p>
            <a:r>
              <a:rPr lang="en-IN" sz="2800" dirty="0"/>
              <a:t>❌ Limited practical applications today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04254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F03D-81AB-3EDC-FC8B-3FDECD5E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61991D-7FEE-D4B8-605F-BB6A920EC940}"/>
              </a:ext>
            </a:extLst>
          </p:cNvPr>
          <p:cNvSpPr/>
          <p:nvPr/>
        </p:nvSpPr>
        <p:spPr>
          <a:xfrm>
            <a:off x="0" y="196645"/>
            <a:ext cx="12192000" cy="53094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D1E4EF-46D0-4099-92E5-E9FE1EED1D5B}"/>
              </a:ext>
            </a:extLst>
          </p:cNvPr>
          <p:cNvSpPr/>
          <p:nvPr/>
        </p:nvSpPr>
        <p:spPr>
          <a:xfrm>
            <a:off x="0" y="6184490"/>
            <a:ext cx="12192000" cy="4768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25C48A-7B20-1EDE-8DE5-0DDC76993E87}"/>
              </a:ext>
            </a:extLst>
          </p:cNvPr>
          <p:cNvSpPr/>
          <p:nvPr/>
        </p:nvSpPr>
        <p:spPr>
          <a:xfrm>
            <a:off x="0" y="5673213"/>
            <a:ext cx="12192000" cy="35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8C4B1C-A9FF-DA31-346E-8D4158A32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58C6A2-4C83-9196-C5B4-860D0E9BE54E}"/>
              </a:ext>
            </a:extLst>
          </p:cNvPr>
          <p:cNvSpPr/>
          <p:nvPr/>
        </p:nvSpPr>
        <p:spPr>
          <a:xfrm>
            <a:off x="1415165" y="63228"/>
            <a:ext cx="86953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400" b="1" dirty="0"/>
              <a:t>Applications</a:t>
            </a:r>
            <a:endParaRPr lang="en-US" sz="4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79246D-6577-B1B9-B8D0-8704C929DD6A}"/>
              </a:ext>
            </a:extLst>
          </p:cNvPr>
          <p:cNvSpPr txBox="1"/>
          <p:nvPr/>
        </p:nvSpPr>
        <p:spPr>
          <a:xfrm>
            <a:off x="517293" y="554525"/>
            <a:ext cx="10259542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400" b="1" dirty="0"/>
              <a:t>Where Are They Used?</a:t>
            </a:r>
          </a:p>
          <a:p>
            <a:r>
              <a:rPr lang="en-IN" sz="2400" b="1" dirty="0"/>
              <a:t>Classical Computing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Web browsing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Office software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Gaming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Databases </a:t>
            </a:r>
          </a:p>
          <a:p>
            <a:r>
              <a:rPr lang="en-IN" sz="2400" b="1" dirty="0"/>
              <a:t>Quantum Computing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Drug discovery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Cryptography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Financial </a:t>
            </a:r>
            <a:r>
              <a:rPr lang="en-IN" sz="2400" dirty="0" err="1"/>
              <a:t>modeling</a:t>
            </a:r>
            <a:r>
              <a:rPr lang="en-IN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Logistics optimization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Material science</a:t>
            </a:r>
            <a:r>
              <a:rPr lang="en-IN" sz="2800" dirty="0"/>
              <a:t> </a:t>
            </a:r>
          </a:p>
          <a:p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07456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472B6-0144-38B4-1875-8A0586798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309016-61CE-6EA9-692E-81D7297E44F4}"/>
              </a:ext>
            </a:extLst>
          </p:cNvPr>
          <p:cNvSpPr/>
          <p:nvPr/>
        </p:nvSpPr>
        <p:spPr>
          <a:xfrm>
            <a:off x="0" y="196645"/>
            <a:ext cx="12192000" cy="53094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4FB239-3AE4-4728-F1B0-5420B3A430ED}"/>
              </a:ext>
            </a:extLst>
          </p:cNvPr>
          <p:cNvSpPr/>
          <p:nvPr/>
        </p:nvSpPr>
        <p:spPr>
          <a:xfrm>
            <a:off x="0" y="6184490"/>
            <a:ext cx="12192000" cy="4768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B002AF-2FB3-3968-4EC6-22CD27A7008B}"/>
              </a:ext>
            </a:extLst>
          </p:cNvPr>
          <p:cNvSpPr/>
          <p:nvPr/>
        </p:nvSpPr>
        <p:spPr>
          <a:xfrm>
            <a:off x="0" y="5673213"/>
            <a:ext cx="12192000" cy="35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F2749-B37D-A236-47E3-799F578A1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6713E4-4B44-50A2-C452-7385EBD1374F}"/>
              </a:ext>
            </a:extLst>
          </p:cNvPr>
          <p:cNvSpPr/>
          <p:nvPr/>
        </p:nvSpPr>
        <p:spPr>
          <a:xfrm>
            <a:off x="1429233" y="0"/>
            <a:ext cx="86953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400" b="1" dirty="0"/>
              <a:t>Conclusion</a:t>
            </a:r>
            <a:endParaRPr lang="en-IN" sz="4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4CB23-D56B-B8B3-6783-ECB334931E89}"/>
              </a:ext>
            </a:extLst>
          </p:cNvPr>
          <p:cNvSpPr txBox="1"/>
          <p:nvPr/>
        </p:nvSpPr>
        <p:spPr>
          <a:xfrm>
            <a:off x="647115" y="1271384"/>
            <a:ext cx="102595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Future of Computing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Classical computers will remain essential for everyday tasks.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Quantum computers are not replacing classical computers.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Instead, they will </a:t>
            </a:r>
            <a:r>
              <a:rPr lang="en-US" sz="2800" b="1" dirty="0"/>
              <a:t>complement</a:t>
            </a:r>
            <a:r>
              <a:rPr lang="en-US" sz="2800" dirty="0"/>
              <a:t> classical systems.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Quantum computing has the potential to revolutionize science, medicine, and cybersecurity. </a:t>
            </a:r>
          </a:p>
          <a:p>
            <a:endParaRPr lang="en-US" sz="2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111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E4BC2A-4604-275C-98D5-7A975057DAC3}"/>
              </a:ext>
            </a:extLst>
          </p:cNvPr>
          <p:cNvSpPr/>
          <p:nvPr/>
        </p:nvSpPr>
        <p:spPr>
          <a:xfrm>
            <a:off x="0" y="196645"/>
            <a:ext cx="12192000" cy="53094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DF6E2-BAA1-241E-3AD0-AEE13AE2C777}"/>
              </a:ext>
            </a:extLst>
          </p:cNvPr>
          <p:cNvSpPr/>
          <p:nvPr/>
        </p:nvSpPr>
        <p:spPr>
          <a:xfrm>
            <a:off x="0" y="6184490"/>
            <a:ext cx="12192000" cy="4768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D57222-0979-9C1F-5C29-884F238678C5}"/>
              </a:ext>
            </a:extLst>
          </p:cNvPr>
          <p:cNvSpPr/>
          <p:nvPr/>
        </p:nvSpPr>
        <p:spPr>
          <a:xfrm>
            <a:off x="0" y="5673213"/>
            <a:ext cx="12192000" cy="35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DCD3B-3F7F-6CD9-6F1A-377DC44F5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0"/>
            <a:ext cx="1905000" cy="1905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7B0FE5-EBA7-AC6E-84A9-F439BBF6C919}"/>
              </a:ext>
            </a:extLst>
          </p:cNvPr>
          <p:cNvSpPr/>
          <p:nvPr/>
        </p:nvSpPr>
        <p:spPr>
          <a:xfrm>
            <a:off x="3858250" y="3044279"/>
            <a:ext cx="447549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IN" sz="4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054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289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Tapabrata Bagchi</dc:creator>
  <cp:lastModifiedBy>Hp</cp:lastModifiedBy>
  <cp:revision>30</cp:revision>
  <dcterms:created xsi:type="dcterms:W3CDTF">2024-04-23T16:49:34Z</dcterms:created>
  <dcterms:modified xsi:type="dcterms:W3CDTF">2026-06-08T04:21:27Z</dcterms:modified>
</cp:coreProperties>
</file>